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36841b1ddb4243" /><Relationship Type="http://schemas.openxmlformats.org/officeDocument/2006/relationships/extended-properties" Target="/docProps/app.xml" Id="R885b9845cff54b7c" /><Relationship Type="http://schemas.openxmlformats.org/officeDocument/2006/relationships/officeDocument" Target="/ppt/presentation.xml" Id="R8ee1df28262847b4" /></Relationships>
</file>

<file path=ppt/presentation.xml><?xml version="1.0" encoding="utf-8"?>
<p:presentation xmlns:p="http://schemas.openxmlformats.org/presentationml/2006/main">
  <p:sldMasterIdLst>
    <p:sldMasterId xmlns:r="http://schemas.openxmlformats.org/officeDocument/2006/relationships" id="2147483648" r:id="R20b919d244ae414e"/>
  </p:sldMasterIdLst>
  <p:notesMasterIdLst>
    <p:notesMasterId xmlns:r="http://schemas.openxmlformats.org/officeDocument/2006/relationships" r:id="R33a2819dc50443c6"/>
  </p:notesMasterIdLst>
  <p:sldIdLst>
    <p:sldId xmlns:r="http://schemas.openxmlformats.org/officeDocument/2006/relationships" id="256" r:id="R432f158c0505459b"/>
    <p:sldId xmlns:r="http://schemas.openxmlformats.org/officeDocument/2006/relationships" id="257" r:id="R344ff5ddbd1b495a"/>
    <p:sldId xmlns:r="http://schemas.openxmlformats.org/officeDocument/2006/relationships" id="258" r:id="R39f5c4bfc0cf44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f00c6437104ccd" /><Relationship Type="http://schemas.openxmlformats.org/officeDocument/2006/relationships/slideMaster" Target="/ppt/slideMasters/slideMaster1.xml" Id="R20b919d244ae414e" /><Relationship Type="http://schemas.openxmlformats.org/officeDocument/2006/relationships/notesMaster" Target="/ppt/notesMasters/notesMaster1.xml" Id="R33a2819dc50443c6" /><Relationship Type="http://schemas.openxmlformats.org/officeDocument/2006/relationships/presProps" Target="/ppt/presProps.xml" Id="R50159a29f00f40e1" /><Relationship Type="http://schemas.openxmlformats.org/officeDocument/2006/relationships/tableStyles" Target="/ppt/tableStyles.xml" Id="Rc16a83d2f1d14df7" /><Relationship Type="http://schemas.openxmlformats.org/officeDocument/2006/relationships/slide" Target="/ppt/slides/slide1.xml" Id="R432f158c0505459b" /><Relationship Type="http://schemas.openxmlformats.org/officeDocument/2006/relationships/slide" Target="/ppt/slides/slide2.xml" Id="R344ff5ddbd1b495a" /><Relationship Type="http://schemas.openxmlformats.org/officeDocument/2006/relationships/slide" Target="/ppt/slides/slide3.xml" Id="R39f5c4bfc0cf44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dabbe969cf4d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f3d3223dc749ba" /><Relationship Type="http://schemas.openxmlformats.org/officeDocument/2006/relationships/notesMaster" Target="/ppt/notesMasters/notesMaster1.xml" Id="R2508408d303044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d7f600c53c451a" /><Relationship Type="http://schemas.openxmlformats.org/officeDocument/2006/relationships/notesMaster" Target="/ppt/notesMasters/notesMaster1.xml" Id="Ra33203858ccd41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c6e23c87a54f0a" /><Relationship Type="http://schemas.openxmlformats.org/officeDocument/2006/relationships/notesMaster" Target="/ppt/notesMasters/notesMaster1.xml" Id="R44160750289648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Offload is a workspace for agents that need to keep working after the first reply. The problem is the supervision around the model. We keep supplying the same context, renewing account access, and explaining what counts as finished. The product goal is fewer interruptions for recurring work. This pitch describes the product plan; it does not claim that every integration is finished.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Account access should refresh where the provider permits it, and preserve a checkpoint when the person must sign in again. The user chooses work sessions and recording. Everyone present must agree to recording. The task panel should show the evidence behind each suggestion. Sleep reviews stored notes and proposed routines. It does not retrain the underlying model. MongoDB is intended to store context, rules and task checkpoints. These are the intended behaviors; account integrations still need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Slow mode is an overnight task with a deadline and token budget. Time alone does not make a model cheaper. We need to measure token use, output quality and the number of human corrections before claiming savings. The current UI saves an overnight queue. The worker still needs integration. Jev, from TypeSafe AI, is a planned decision model for selecting context and evaluating individual completion criteria against evidence. A Noul result is the probability of yes for a specified question; a general confidence score is not proof that an entire task is complete. Jev is not connected. Sources: https://docs.typesafe.ai/introduction and https://docs.typesafe.ai/primitives/noul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db8537022349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bf4ab30b7f43f7" /><Relationship Type="http://schemas.openxmlformats.org/officeDocument/2006/relationships/slideLayout" Target="/ppt/slideLayouts/slideLayout1.xml" Id="R1d437ed76f9f40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437ed76f9f40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68b37b74634f91" /><Relationship Type="http://schemas.openxmlformats.org/officeDocument/2006/relationships/image" Target="/ppt/media/image.png" Id="Rd4c21e8e551e4c78" /><Relationship Type="http://schemas.openxmlformats.org/officeDocument/2006/relationships/notesSlide" Target="/ppt/notesSlides/notesSlide1.xml" Id="Ra7b5a15e44504d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973ebd06ef4364" /><Relationship Type="http://schemas.openxmlformats.org/officeDocument/2006/relationships/image" Target="/ppt/media/image2.png" Id="Rc3eb9f1432574961" /><Relationship Type="http://schemas.openxmlformats.org/officeDocument/2006/relationships/notesSlide" Target="/ppt/notesSlides/notesSlide2.xml" Id="Ra23fc79d639d4c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830d1978884842" /><Relationship Type="http://schemas.openxmlformats.org/officeDocument/2006/relationships/image" Target="/ppt/media/image3.png" Id="R4f92c89d10a145fa" /><Relationship Type="http://schemas.openxmlformats.org/officeDocument/2006/relationships/notesSlide" Target="/ppt/notesSlides/notesSlide3.xml" Id="R2c95341464da4de2" /></Relationships>
</file>

<file path=ppt/slides/slide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4c21e8e551e4c78"/>
          <a:stretch xmlns:a="http://schemas.openxmlformats.org/drawingml/2006/main"/>
        </p:blipFill>
        <p:spPr>
          <a:xfrm xmlns:a="http://schemas.openxmlformats.org/drawingml/2006/main">
            <a:off x="612143" y="285750"/>
            <a:ext cx="1499864" cy="5524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AD13A76-0AF0-4951-9EA0-2BF48A41E9B2}"/>
              </a:ext>
            </a:extLst>
          </p:cNvPr>
          <p:cNvSpPr>
            <a:spLocks xmlns:a="http://schemas.openxmlformats.org/drawingml/2006/main" noGrp="1"/>
          </p:cNvSpPr>
          <p:nvPr/>
        </p:nvSpPr>
        <p:spPr>
          <a:xfrm xmlns:a="http://schemas.openxmlformats.org/drawingml/2006/main">
            <a:off x="11087100" y="61912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a:solidFill>
                  <a:srgbClr val="BDBDBD"/>
                </a:solidFill>
                <a:latin typeface="Avenir Next"/>
                <a:ea typeface="Avenir Next"/>
                <a:cs typeface="Avenir Next"/>
              </a:defRPr>
            </a:pPr>
            <a:r>
              <a:rPr sz="1200">
                <a:solidFill>
                  <a:srgbClr val="BDBDBD"/>
                </a:solidFill>
                <a:latin typeface="Avenir Next"/>
                <a:ea typeface="Avenir Next"/>
                <a:cs typeface="Avenir Next"/>
              </a:rPr>
              <a:t>01</a:t>
            </a:r>
          </a:p>
        </p:txBody>
      </p:sp>
      <p:sp>
        <p:nvSpPr>
          <p:cNvPr id="3" name="">
            <a:extLst xmlns:a="http://schemas.openxmlformats.org/drawingml/2006/main">
              <a:ext uri="{FF2B5EF4-FFF2-40B4-BE49-F238E27FC236}">
                <a16:creationId xmlns:a16="http://schemas.microsoft.com/office/drawing/2014/main" id="{3F71030C-CD7B-46A4-9EF0-65E5AAC1E824}"/>
              </a:ext>
            </a:extLst>
          </p:cNvPr>
          <p:cNvSpPr>
            <a:spLocks xmlns:a="http://schemas.openxmlformats.org/drawingml/2006/main" noGrp="1"/>
          </p:cNvSpPr>
          <p:nvPr/>
        </p:nvSpPr>
        <p:spPr>
          <a:xfrm xmlns:a="http://schemas.openxmlformats.org/drawingml/2006/main">
            <a:off x="647700" y="1666875"/>
            <a:ext cx="10715625"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800">
                <a:solidFill>
                  <a:srgbClr val="FFFFFF"/>
                </a:solidFill>
                <a:latin typeface="Instrument Serif"/>
                <a:ea typeface="Instrument Serif"/>
                <a:cs typeface="Instrument Serif"/>
              </a:defRPr>
            </a:pPr>
            <a:r>
              <a:rPr sz="7800">
                <a:solidFill>
                  <a:srgbClr val="FFFFFF"/>
                </a:solidFill>
                <a:latin typeface="Instrument Serif"/>
                <a:ea typeface="Instrument Serif"/>
                <a:cs typeface="Instrument Serif"/>
              </a:rPr>
              <a:t>Your agent still</a:t>
            </a:r>
          </a:p>
          <a:p xmlns:a="http://schemas.openxmlformats.org/drawingml/2006/main">
            <a:pPr>
              <a:buNone/>
              <a:defRPr sz="7800">
                <a:solidFill>
                  <a:srgbClr val="FFFFFF"/>
                </a:solidFill>
                <a:latin typeface="Instrument Serif"/>
                <a:ea typeface="Instrument Serif"/>
                <a:cs typeface="Instrument Serif"/>
              </a:defRPr>
            </a:pPr>
            <a:r>
              <a:rPr sz="7800">
                <a:solidFill>
                  <a:srgbClr val="FFFFFF"/>
                </a:solidFill>
                <a:latin typeface="Instrument Serif"/>
                <a:ea typeface="Instrument Serif"/>
                <a:cs typeface="Instrument Serif"/>
              </a:rPr>
              <a:t>needs a manager</a:t>
            </a:r>
          </a:p>
        </p:txBody>
      </p:sp>
      <p:sp>
        <p:nvSpPr>
          <p:cNvPr id="4" name="">
            <a:extLst xmlns:a="http://schemas.openxmlformats.org/drawingml/2006/main">
              <a:ext uri="{FF2B5EF4-FFF2-40B4-BE49-F238E27FC236}">
                <a16:creationId xmlns:a16="http://schemas.microsoft.com/office/drawing/2014/main" id="{E9F43E3F-A3C9-4394-A8F4-C38E875BA0C1}"/>
              </a:ext>
            </a:extLst>
          </p:cNvPr>
          <p:cNvSpPr>
            <a:spLocks xmlns:a="http://schemas.openxmlformats.org/drawingml/2006/main" noGrp="1"/>
          </p:cNvSpPr>
          <p:nvPr/>
        </p:nvSpPr>
        <p:spPr>
          <a:xfrm xmlns:a="http://schemas.openxmlformats.org/drawingml/2006/main">
            <a:off x="733425" y="46196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a:solidFill>
                  <a:srgbClr val="FFFFFF"/>
                </a:solidFill>
                <a:latin typeface="Avenir Next"/>
                <a:ea typeface="Avenir Next"/>
                <a:cs typeface="Avenir Next"/>
              </a:defRPr>
            </a:pPr>
            <a:r>
              <a:rPr sz="2400">
                <a:solidFill>
                  <a:srgbClr val="FFFFFF"/>
                </a:solidFill>
                <a:latin typeface="Avenir Next"/>
                <a:ea typeface="Avenir Next"/>
                <a:cs typeface="Avenir Next"/>
              </a:rPr>
              <a:t>You repeat the context. Reconnect the accounts.</a:t>
            </a:r>
          </a:p>
          <a:p xmlns:a="http://schemas.openxmlformats.org/drawingml/2006/main">
            <a:pPr>
              <a:buNone/>
              <a:defRPr sz="2400">
                <a:solidFill>
                  <a:srgbClr val="FFFFFF"/>
                </a:solidFill>
                <a:latin typeface="Avenir Next"/>
                <a:ea typeface="Avenir Next"/>
                <a:cs typeface="Avenir Next"/>
              </a:defRPr>
            </a:pPr>
            <a:r>
              <a:rPr sz="2400">
                <a:solidFill>
                  <a:srgbClr val="FFFFFF"/>
                </a:solidFill>
                <a:latin typeface="Avenir Next"/>
                <a:ea typeface="Avenir Next"/>
                <a:cs typeface="Avenir Next"/>
              </a:rPr>
              <a:t>Remind it what "done" means.</a:t>
            </a:r>
          </a:p>
        </p:txBody>
      </p:sp>
    </p:spTree>
    <p:extLst>
      <p:ext uri="{BB962C8B-B14F-4D97-AF65-F5344CB8AC3E}">
        <p14:creationId xmlns:p14="http://schemas.microsoft.com/office/powerpoint/2010/main" val="5611928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3eb9f1432574961"/>
          <a:stretch xmlns:a="http://schemas.openxmlformats.org/drawingml/2006/main"/>
        </p:blipFill>
        <p:spPr>
          <a:xfrm xmlns:a="http://schemas.openxmlformats.org/drawingml/2006/main">
            <a:off x="612143" y="285750"/>
            <a:ext cx="1499864" cy="5524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7A353D7-75B2-4572-BC13-44D59F7EB024}"/>
              </a:ext>
            </a:extLst>
          </p:cNvPr>
          <p:cNvSpPr>
            <a:spLocks xmlns:a="http://schemas.openxmlformats.org/drawingml/2006/main" noGrp="1"/>
          </p:cNvSpPr>
          <p:nvPr/>
        </p:nvSpPr>
        <p:spPr>
          <a:xfrm xmlns:a="http://schemas.openxmlformats.org/drawingml/2006/main">
            <a:off x="11087100" y="61912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a:solidFill>
                  <a:srgbClr val="555555"/>
                </a:solidFill>
                <a:latin typeface="Avenir Next"/>
                <a:ea typeface="Avenir Next"/>
                <a:cs typeface="Avenir Next"/>
              </a:defRPr>
            </a:pPr>
            <a:r>
              <a:rPr sz="1200">
                <a:solidFill>
                  <a:srgbClr val="555555"/>
                </a:solidFill>
                <a:latin typeface="Avenir Next"/>
                <a:ea typeface="Avenir Next"/>
                <a:cs typeface="Avenir Next"/>
              </a:rPr>
              <a:t>02</a:t>
            </a:r>
          </a:p>
        </p:txBody>
      </p:sp>
      <p:sp>
        <p:nvSpPr>
          <p:cNvPr id="3" name="">
            <a:extLst xmlns:a="http://schemas.openxmlformats.org/drawingml/2006/main">
              <a:ext uri="{FF2B5EF4-FFF2-40B4-BE49-F238E27FC236}">
                <a16:creationId xmlns:a16="http://schemas.microsoft.com/office/drawing/2014/main" id="{2B0A6327-5031-4661-B9FF-88806C310C86}"/>
              </a:ext>
            </a:extLst>
          </p:cNvPr>
          <p:cNvSpPr>
            <a:spLocks xmlns:a="http://schemas.openxmlformats.org/drawingml/2006/main" noGrp="1"/>
          </p:cNvSpPr>
          <p:nvPr/>
        </p:nvSpPr>
        <p:spPr>
          <a:xfrm xmlns:a="http://schemas.openxmlformats.org/drawingml/2006/main">
            <a:off x="647700" y="1724025"/>
            <a:ext cx="561975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a:solidFill>
                  <a:srgbClr val="080808"/>
                </a:solidFill>
                <a:latin typeface="Instrument Serif"/>
                <a:ea typeface="Instrument Serif"/>
                <a:cs typeface="Instrument Serif"/>
              </a:defRPr>
            </a:pPr>
            <a:r>
              <a:rPr sz="6600">
                <a:solidFill>
                  <a:srgbClr val="080808"/>
                </a:solidFill>
                <a:latin typeface="Instrument Serif"/>
                <a:ea typeface="Instrument Serif"/>
                <a:cs typeface="Instrument Serif"/>
              </a:rPr>
              <a:t>Keep the context.</a:t>
            </a:r>
          </a:p>
          <a:p xmlns:a="http://schemas.openxmlformats.org/drawingml/2006/main">
            <a:pPr>
              <a:buNone/>
              <a:defRPr sz="6600">
                <a:solidFill>
                  <a:srgbClr val="080808"/>
                </a:solidFill>
                <a:latin typeface="Instrument Serif"/>
                <a:ea typeface="Instrument Serif"/>
                <a:cs typeface="Instrument Serif"/>
              </a:defRPr>
            </a:pPr>
            <a:r>
              <a:rPr sz="6600">
                <a:solidFill>
                  <a:srgbClr val="080808"/>
                </a:solidFill>
                <a:latin typeface="Instrument Serif"/>
                <a:ea typeface="Instrument Serif"/>
                <a:cs typeface="Instrument Serif"/>
              </a:rPr>
              <a:t>Keep going.</a:t>
            </a:r>
          </a:p>
        </p:txBody>
      </p:sp>
      <p:sp>
        <p:nvSpPr>
          <p:cNvPr id="4" name="">
            <a:extLst xmlns:a="http://schemas.openxmlformats.org/drawingml/2006/main">
              <a:ext uri="{FF2B5EF4-FFF2-40B4-BE49-F238E27FC236}">
                <a16:creationId xmlns:a16="http://schemas.microsoft.com/office/drawing/2014/main" id="{816C395F-0402-4BFC-86DF-B4DCC140D36B}"/>
              </a:ext>
            </a:extLst>
          </p:cNvPr>
          <p:cNvSpPr>
            <a:spLocks xmlns:a="http://schemas.openxmlformats.org/drawingml/2006/main" noGrp="1"/>
          </p:cNvSpPr>
          <p:nvPr/>
        </p:nvSpPr>
        <p:spPr>
          <a:xfrm xmlns:a="http://schemas.openxmlformats.org/drawingml/2006/main">
            <a:off x="6810375" y="1781175"/>
            <a:ext cx="4857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a:solidFill>
                  <a:srgbClr val="080808"/>
                </a:solidFill>
                <a:latin typeface="Avenir Next"/>
                <a:ea typeface="Avenir Next"/>
                <a:cs typeface="Avenir Next"/>
              </a:defRPr>
            </a:pPr>
            <a:r>
              <a:rPr sz="2100">
                <a:solidFill>
                  <a:srgbClr val="080808"/>
                </a:solidFill>
                <a:latin typeface="Avenir Next"/>
                <a:ea typeface="Avenir Next"/>
                <a:cs typeface="Avenir Next"/>
              </a:rPr>
              <a:t>Connect your tools. Keep the task's</a:t>
            </a:r>
          </a:p>
          <a:p xmlns:a="http://schemas.openxmlformats.org/drawingml/2006/main">
            <a:pPr>
              <a:buNone/>
              <a:defRPr sz="2100">
                <a:solidFill>
                  <a:srgbClr val="080808"/>
                </a:solidFill>
                <a:latin typeface="Avenir Next"/>
                <a:ea typeface="Avenir Next"/>
                <a:cs typeface="Avenir Next"/>
              </a:defRPr>
            </a:pPr>
            <a:r>
              <a:rPr sz="2100">
                <a:solidFill>
                  <a:srgbClr val="080808"/>
                </a:solidFill>
                <a:latin typeface="Avenir Next"/>
                <a:ea typeface="Avenir Next"/>
                <a:cs typeface="Avenir Next"/>
              </a:rPr>
              <a:t>place when access needs renewing.</a:t>
            </a:r>
          </a:p>
        </p:txBody>
      </p:sp>
      <p:sp>
        <p:nvSpPr>
          <p:cNvPr id="5" name="">
            <a:extLst xmlns:a="http://schemas.openxmlformats.org/drawingml/2006/main">
              <a:ext uri="{FF2B5EF4-FFF2-40B4-BE49-F238E27FC236}">
                <a16:creationId xmlns:a16="http://schemas.microsoft.com/office/drawing/2014/main" id="{7EEAB394-8F0A-48E0-A1C1-7B668E1D8BA9}"/>
              </a:ext>
            </a:extLst>
          </p:cNvPr>
          <p:cNvSpPr>
            <a:spLocks xmlns:a="http://schemas.openxmlformats.org/drawingml/2006/main" noGrp="1"/>
          </p:cNvSpPr>
          <p:nvPr/>
        </p:nvSpPr>
        <p:spPr>
          <a:xfrm xmlns:a="http://schemas.openxmlformats.org/drawingml/2006/main">
            <a:off x="6810375" y="300037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a:solidFill>
                  <a:srgbClr val="080808"/>
                </a:solidFill>
                <a:latin typeface="Avenir Next"/>
                <a:ea typeface="Avenir Next"/>
                <a:cs typeface="Avenir Next"/>
              </a:defRPr>
            </a:pPr>
            <a:r>
              <a:rPr sz="2100">
                <a:solidFill>
                  <a:srgbClr val="080808"/>
                </a:solidFill>
                <a:latin typeface="Avenir Next"/>
                <a:ea typeface="Avenir Next"/>
                <a:cs typeface="Avenir Next"/>
              </a:rPr>
              <a:t>Choose what it can see and hear.</a:t>
            </a:r>
          </a:p>
          <a:p xmlns:a="http://schemas.openxmlformats.org/drawingml/2006/main">
            <a:pPr>
              <a:buNone/>
              <a:defRPr sz="2100">
                <a:solidFill>
                  <a:srgbClr val="080808"/>
                </a:solidFill>
                <a:latin typeface="Avenir Next"/>
                <a:ea typeface="Avenir Next"/>
                <a:cs typeface="Avenir Next"/>
              </a:defRPr>
            </a:pPr>
            <a:r>
              <a:rPr sz="2100">
                <a:solidFill>
                  <a:srgbClr val="080808"/>
                </a:solidFill>
                <a:latin typeface="Avenir Next"/>
                <a:ea typeface="Avenir Next"/>
                <a:cs typeface="Avenir Next"/>
              </a:rPr>
              <a:t>Review suggestions for work you repeat.</a:t>
            </a:r>
          </a:p>
        </p:txBody>
      </p:sp>
      <p:sp>
        <p:nvSpPr>
          <p:cNvPr id="6" name="">
            <a:extLst xmlns:a="http://schemas.openxmlformats.org/drawingml/2006/main">
              <a:ext uri="{FF2B5EF4-FFF2-40B4-BE49-F238E27FC236}">
                <a16:creationId xmlns:a16="http://schemas.microsoft.com/office/drawing/2014/main" id="{3E7DA4B7-D558-487D-982C-17312E72C9E9}"/>
              </a:ext>
            </a:extLst>
          </p:cNvPr>
          <p:cNvSpPr>
            <a:spLocks xmlns:a="http://schemas.openxmlformats.org/drawingml/2006/main" noGrp="1"/>
          </p:cNvSpPr>
          <p:nvPr/>
        </p:nvSpPr>
        <p:spPr>
          <a:xfrm xmlns:a="http://schemas.openxmlformats.org/drawingml/2006/main">
            <a:off x="6810375" y="43148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a:solidFill>
                  <a:srgbClr val="080808"/>
                </a:solidFill>
                <a:latin typeface="Avenir Next"/>
                <a:ea typeface="Avenir Next"/>
                <a:cs typeface="Avenir Next"/>
              </a:defRPr>
            </a:pPr>
            <a:r>
              <a:rPr sz="2100">
                <a:solidFill>
                  <a:srgbClr val="080808"/>
                </a:solidFill>
                <a:latin typeface="Avenir Next"/>
                <a:ea typeface="Avenir Next"/>
                <a:cs typeface="Avenir Next"/>
              </a:rPr>
              <a:t>Correct it once. Save the rule</a:t>
            </a:r>
          </a:p>
          <a:p xmlns:a="http://schemas.openxmlformats.org/drawingml/2006/main">
            <a:pPr>
              <a:buNone/>
              <a:defRPr sz="2100">
                <a:solidFill>
                  <a:srgbClr val="080808"/>
                </a:solidFill>
                <a:latin typeface="Avenir Next"/>
                <a:ea typeface="Avenir Next"/>
                <a:cs typeface="Avenir Next"/>
              </a:defRPr>
            </a:pPr>
            <a:r>
              <a:rPr sz="2100">
                <a:solidFill>
                  <a:srgbClr val="080808"/>
                </a:solidFill>
                <a:latin typeface="Avenir Next"/>
                <a:ea typeface="Avenir Next"/>
                <a:cs typeface="Avenir Next"/>
              </a:rPr>
              <a:t>for the next run.</a:t>
            </a:r>
          </a:p>
        </p:txBody>
      </p:sp>
      <p:sp>
        <p:nvSpPr>
          <p:cNvPr id="7" name="">
            <a:extLst xmlns:a="http://schemas.openxmlformats.org/drawingml/2006/main">
              <a:ext uri="{FF2B5EF4-FFF2-40B4-BE49-F238E27FC236}">
                <a16:creationId xmlns:a16="http://schemas.microsoft.com/office/drawing/2014/main" id="{DD6BF7AC-2E63-4750-A629-40F6FC3B6499}"/>
              </a:ext>
            </a:extLst>
          </p:cNvPr>
          <p:cNvSpPr>
            <a:spLocks xmlns:a="http://schemas.openxmlformats.org/drawingml/2006/main" noGrp="1"/>
          </p:cNvSpPr>
          <p:nvPr/>
        </p:nvSpPr>
        <p:spPr>
          <a:xfrm xmlns:a="http://schemas.openxmlformats.org/drawingml/2006/main">
            <a:off x="733425" y="6019800"/>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a:solidFill>
                  <a:srgbClr val="555555"/>
                </a:solidFill>
                <a:latin typeface="Avenir Next"/>
                <a:ea typeface="Avenir Next"/>
                <a:cs typeface="Avenir Next"/>
              </a:defRPr>
            </a:pPr>
            <a:r>
              <a:rPr sz="1575">
                <a:solidFill>
                  <a:srgbClr val="555555"/>
                </a:solidFill>
                <a:latin typeface="Avenir Next"/>
                <a:ea typeface="Avenir Next"/>
                <a:cs typeface="Avenir Next"/>
              </a:rPr>
              <a:t>Offload puts account access, work history and task memory in one workspace.</a:t>
            </a:r>
          </a:p>
        </p:txBody>
      </p:sp>
    </p:spTree>
    <p:extLst>
      <p:ext uri="{BB962C8B-B14F-4D97-AF65-F5344CB8AC3E}">
        <p14:creationId xmlns:p14="http://schemas.microsoft.com/office/powerpoint/2010/main" val="2457666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f92c89d10a145fa"/>
          <a:stretch xmlns:a="http://schemas.openxmlformats.org/drawingml/2006/main"/>
        </p:blipFill>
        <p:spPr>
          <a:xfrm xmlns:a="http://schemas.openxmlformats.org/drawingml/2006/main">
            <a:off x="612143" y="285750"/>
            <a:ext cx="1499864" cy="5524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284D8BC-F622-499F-A469-B47B69A91B3E}"/>
              </a:ext>
            </a:extLst>
          </p:cNvPr>
          <p:cNvSpPr>
            <a:spLocks xmlns:a="http://schemas.openxmlformats.org/drawingml/2006/main" noGrp="1"/>
          </p:cNvSpPr>
          <p:nvPr/>
        </p:nvSpPr>
        <p:spPr>
          <a:xfrm xmlns:a="http://schemas.openxmlformats.org/drawingml/2006/main">
            <a:off x="11087100" y="61912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a:solidFill>
                  <a:srgbClr val="555555"/>
                </a:solidFill>
                <a:latin typeface="Avenir Next"/>
                <a:ea typeface="Avenir Next"/>
                <a:cs typeface="Avenir Next"/>
              </a:defRPr>
            </a:pPr>
            <a:r>
              <a:rPr sz="1200">
                <a:solidFill>
                  <a:srgbClr val="555555"/>
                </a:solidFill>
                <a:latin typeface="Avenir Next"/>
                <a:ea typeface="Avenir Next"/>
                <a:cs typeface="Avenir Next"/>
              </a:rPr>
              <a:t>03</a:t>
            </a:r>
          </a:p>
        </p:txBody>
      </p:sp>
      <p:sp>
        <p:nvSpPr>
          <p:cNvPr id="3" name="">
            <a:extLst xmlns:a="http://schemas.openxmlformats.org/drawingml/2006/main">
              <a:ext uri="{FF2B5EF4-FFF2-40B4-BE49-F238E27FC236}">
                <a16:creationId xmlns:a16="http://schemas.microsoft.com/office/drawing/2014/main" id="{A5905F62-93B8-4C3C-8859-91870634BE6F}"/>
              </a:ext>
            </a:extLst>
          </p:cNvPr>
          <p:cNvSpPr>
            <a:spLocks xmlns:a="http://schemas.openxmlformats.org/drawingml/2006/main" noGrp="1"/>
          </p:cNvSpPr>
          <p:nvPr/>
        </p:nvSpPr>
        <p:spPr>
          <a:xfrm xmlns:a="http://schemas.openxmlformats.org/drawingml/2006/main">
            <a:off x="647700" y="1724025"/>
            <a:ext cx="59055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a:solidFill>
                  <a:srgbClr val="080808"/>
                </a:solidFill>
                <a:latin typeface="Instrument Serif"/>
                <a:ea typeface="Instrument Serif"/>
                <a:cs typeface="Instrument Serif"/>
              </a:defRPr>
            </a:pPr>
            <a:r>
              <a:rPr sz="6600">
                <a:solidFill>
                  <a:srgbClr val="080808"/>
                </a:solidFill>
                <a:latin typeface="Instrument Serif"/>
                <a:ea typeface="Instrument Serif"/>
                <a:cs typeface="Instrument Serif"/>
              </a:rPr>
              <a:t>Give it</a:t>
            </a:r>
          </a:p>
          <a:p xmlns:a="http://schemas.openxmlformats.org/drawingml/2006/main">
            <a:pPr>
              <a:buNone/>
              <a:defRPr sz="6600">
                <a:solidFill>
                  <a:srgbClr val="080808"/>
                </a:solidFill>
                <a:latin typeface="Instrument Serif"/>
                <a:ea typeface="Instrument Serif"/>
                <a:cs typeface="Instrument Serif"/>
              </a:defRPr>
            </a:pPr>
            <a:r>
              <a:rPr sz="6600">
                <a:solidFill>
                  <a:srgbClr val="080808"/>
                </a:solidFill>
                <a:latin typeface="Instrument Serif"/>
                <a:ea typeface="Instrument Serif"/>
                <a:cs typeface="Instrument Serif"/>
              </a:rPr>
              <a:t>the night</a:t>
            </a:r>
          </a:p>
        </p:txBody>
      </p:sp>
      <p:sp>
        <p:nvSpPr>
          <p:cNvPr id="4" name="">
            <a:extLst xmlns:a="http://schemas.openxmlformats.org/drawingml/2006/main">
              <a:ext uri="{FF2B5EF4-FFF2-40B4-BE49-F238E27FC236}">
                <a16:creationId xmlns:a16="http://schemas.microsoft.com/office/drawing/2014/main" id="{CE2B24B3-0F17-4609-A87D-0FE8B77D38E0}"/>
              </a:ext>
            </a:extLst>
          </p:cNvPr>
          <p:cNvSpPr>
            <a:spLocks xmlns:a="http://schemas.openxmlformats.org/drawingml/2006/main" noGrp="1"/>
          </p:cNvSpPr>
          <p:nvPr/>
        </p:nvSpPr>
        <p:spPr>
          <a:xfrm xmlns:a="http://schemas.openxmlformats.org/drawingml/2006/main">
            <a:off x="6810375" y="1838325"/>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a:solidFill>
                  <a:srgbClr val="080808"/>
                </a:solidFill>
                <a:latin typeface="Instrument Serif"/>
                <a:ea typeface="Instrument Serif"/>
                <a:cs typeface="Instrument Serif"/>
              </a:defRPr>
            </a:pPr>
            <a:r>
              <a:rPr sz="2625">
                <a:solidFill>
                  <a:srgbClr val="080808"/>
                </a:solidFill>
                <a:latin typeface="Instrument Serif"/>
                <a:ea typeface="Instrument Serif"/>
                <a:cs typeface="Instrument Serif"/>
              </a:rPr>
              <a:t>"Have the update ready by 8.</a:t>
            </a:r>
          </a:p>
          <a:p xmlns:a="http://schemas.openxmlformats.org/drawingml/2006/main">
            <a:pPr>
              <a:buNone/>
              <a:defRPr sz="2625">
                <a:solidFill>
                  <a:srgbClr val="080808"/>
                </a:solidFill>
                <a:latin typeface="Instrument Serif"/>
                <a:ea typeface="Instrument Serif"/>
                <a:cs typeface="Instrument Serif"/>
              </a:defRPr>
            </a:pPr>
            <a:r>
              <a:rPr sz="2625">
                <a:solidFill>
                  <a:srgbClr val="080808"/>
                </a:solidFill>
                <a:latin typeface="Instrument Serif"/>
                <a:ea typeface="Instrument Serif"/>
                <a:cs typeface="Instrument Serif"/>
              </a:rPr>
              <a:t>Use at most 10,000 tokens."</a:t>
            </a:r>
          </a:p>
        </p:txBody>
      </p:sp>
      <p:sp>
        <p:nvSpPr>
          <p:cNvPr id="5" name="">
            <a:extLst xmlns:a="http://schemas.openxmlformats.org/drawingml/2006/main">
              <a:ext uri="{FF2B5EF4-FFF2-40B4-BE49-F238E27FC236}">
                <a16:creationId xmlns:a16="http://schemas.microsoft.com/office/drawing/2014/main" id="{88B5BAF9-B01D-4456-BBC6-EB71D4F9AE25}"/>
              </a:ext>
            </a:extLst>
          </p:cNvPr>
          <p:cNvSpPr>
            <a:spLocks xmlns:a="http://schemas.openxmlformats.org/drawingml/2006/main" noGrp="1"/>
          </p:cNvSpPr>
          <p:nvPr/>
        </p:nvSpPr>
        <p:spPr>
          <a:xfrm xmlns:a="http://schemas.openxmlformats.org/drawingml/2006/main">
            <a:off x="6810375" y="3476625"/>
            <a:ext cx="4857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a:solidFill>
                  <a:srgbClr val="080808"/>
                </a:solidFill>
                <a:latin typeface="Avenir Next"/>
                <a:ea typeface="Avenir Next"/>
                <a:cs typeface="Avenir Next"/>
              </a:defRPr>
            </a:pPr>
            <a:r>
              <a:rPr sz="2100">
                <a:solidFill>
                  <a:srgbClr val="080808"/>
                </a:solidFill>
                <a:latin typeface="Avenir Next"/>
                <a:ea typeface="Avenir Next"/>
                <a:cs typeface="Avenir Next"/>
              </a:rPr>
              <a:t>Slow mode gives a task time to check</a:t>
            </a:r>
          </a:p>
          <a:p xmlns:a="http://schemas.openxmlformats.org/drawingml/2006/main">
            <a:pPr>
              <a:buNone/>
              <a:defRPr sz="2100">
                <a:solidFill>
                  <a:srgbClr val="080808"/>
                </a:solidFill>
                <a:latin typeface="Avenir Next"/>
                <a:ea typeface="Avenir Next"/>
                <a:cs typeface="Avenir Next"/>
              </a:defRPr>
            </a:pPr>
            <a:r>
              <a:rPr sz="2100">
                <a:solidFill>
                  <a:srgbClr val="080808"/>
                </a:solidFill>
                <a:latin typeface="Avenir Next"/>
                <a:ea typeface="Avenir Next"/>
                <a:cs typeface="Avenir Next"/>
              </a:rPr>
              <a:t>its work. Memory review keeps useful</a:t>
            </a:r>
          </a:p>
          <a:p xmlns:a="http://schemas.openxmlformats.org/drawingml/2006/main">
            <a:pPr>
              <a:buNone/>
              <a:defRPr sz="2100">
                <a:solidFill>
                  <a:srgbClr val="080808"/>
                </a:solidFill>
                <a:latin typeface="Avenir Next"/>
                <a:ea typeface="Avenir Next"/>
                <a:cs typeface="Avenir Next"/>
              </a:defRPr>
            </a:pPr>
            <a:r>
              <a:rPr sz="2100">
                <a:solidFill>
                  <a:srgbClr val="080808"/>
                </a:solidFill>
                <a:latin typeface="Avenir Next"/>
                <a:ea typeface="Avenir Next"/>
                <a:cs typeface="Avenir Next"/>
              </a:rPr>
              <a:t>rules for the next run.</a:t>
            </a:r>
          </a:p>
        </p:txBody>
      </p:sp>
      <p:sp>
        <p:nvSpPr>
          <p:cNvPr id="6" name="">
            <a:extLst xmlns:a="http://schemas.openxmlformats.org/drawingml/2006/main">
              <a:ext uri="{FF2B5EF4-FFF2-40B4-BE49-F238E27FC236}">
                <a16:creationId xmlns:a16="http://schemas.microsoft.com/office/drawing/2014/main" id="{BD7945D9-6CEC-42A3-AA6D-D5B59ABC8C4B}"/>
              </a:ext>
            </a:extLst>
          </p:cNvPr>
          <p:cNvSpPr>
            <a:spLocks xmlns:a="http://schemas.openxmlformats.org/drawingml/2006/main" noGrp="1"/>
          </p:cNvSpPr>
          <p:nvPr/>
        </p:nvSpPr>
        <p:spPr>
          <a:xfrm xmlns:a="http://schemas.openxmlformats.org/drawingml/2006/main">
            <a:off x="733425" y="53721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a:solidFill>
                  <a:srgbClr val="080808"/>
                </a:solidFill>
                <a:latin typeface="Avenir Next"/>
                <a:ea typeface="Avenir Next"/>
                <a:cs typeface="Avenir Next"/>
              </a:defRPr>
            </a:pPr>
            <a:r>
              <a:rPr sz="2325">
                <a:solidFill>
                  <a:srgbClr val="080808"/>
                </a:solidFill>
                <a:latin typeface="Avenir Next"/>
                <a:ea typeface="Avenir Next"/>
                <a:cs typeface="Avenir Next"/>
              </a:rPr>
              <a:t>Jev is planned to score context and completion evidence.</a:t>
            </a:r>
          </a:p>
        </p:txBody>
      </p:sp>
      <p:sp>
        <p:nvSpPr>
          <p:cNvPr id="7" name="">
            <a:extLst xmlns:a="http://schemas.openxmlformats.org/drawingml/2006/main">
              <a:ext uri="{FF2B5EF4-FFF2-40B4-BE49-F238E27FC236}">
                <a16:creationId xmlns:a16="http://schemas.microsoft.com/office/drawing/2014/main" id="{82205D76-6387-4472-B552-F983580A02EF}"/>
              </a:ext>
            </a:extLst>
          </p:cNvPr>
          <p:cNvSpPr>
            <a:spLocks xmlns:a="http://schemas.openxmlformats.org/drawingml/2006/main" noGrp="1"/>
          </p:cNvSpPr>
          <p:nvPr/>
        </p:nvSpPr>
        <p:spPr>
          <a:xfrm xmlns:a="http://schemas.openxmlformats.org/drawingml/2006/main">
            <a:off x="733425" y="6067425"/>
            <a:ext cx="10239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a:solidFill>
                  <a:srgbClr val="555555"/>
                </a:solidFill>
                <a:latin typeface="Avenir Next"/>
                <a:ea typeface="Avenir Next"/>
                <a:cs typeface="Avenir Next"/>
              </a:defRPr>
            </a:pPr>
            <a:r>
              <a:rPr sz="1350">
                <a:solidFill>
                  <a:srgbClr val="555555"/>
                </a:solidFill>
                <a:latin typeface="Avenir Next"/>
                <a:ea typeface="Avenir Next"/>
                <a:cs typeface="Avenir Next"/>
              </a:rPr>
              <a:t>Product plan. Account authorization, Jev and overnight execution still need integration.</a:t>
            </a:r>
          </a:p>
        </p:txBody>
      </p:sp>
    </p:spTree>
    <p:extLst>
      <p:ext uri="{BB962C8B-B14F-4D97-AF65-F5344CB8AC3E}">
        <p14:creationId xmlns:p14="http://schemas.microsoft.com/office/powerpoint/2010/main" val="4076035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2026-09-26T15:26:58.8290000Z</dcterms:created>
  <dcterms:modified xsi:type="dcterms:W3CDTF">2026-09-26T15:26:58.8290000Z</dcterms:modified>
</coreProperties>
</file>